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08" autoAdjust="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A39B-CD90-3D7D-C608-F3B41A798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33748-B1B5-A85D-73EB-69EF970C6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D7F76-7294-C3A9-DC51-B9096EC3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13B58-9E55-81F6-A8CB-7BEE5065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8C99A-C89A-1999-BDAF-6642742A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963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CFB9-A006-CAAA-7FFE-616579E6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50B5E-4EB4-0489-2CD9-07F450D83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B43A0-AA95-6E76-1DB2-5BA94DF64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9C9F4-7A11-2075-985C-D2CB18C7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4C648-7A41-1585-4777-B8306A90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37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527FE-F06C-4B60-1D66-C56F3A440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E7C6F-B475-472B-BAC8-017B442A4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766B4-FD98-65EC-ABBB-1E624391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5A600-0F9F-0B43-B291-5B6222CA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9767D-3D51-DFAA-D0A6-8D21334D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06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53C2E-F2E1-ED53-33E5-ED620CA0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295FC-3C76-E1AD-4386-359F1C0B9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1F591-9B15-22C7-0EDC-DE1686930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233FC-8B41-B1E8-FEF5-9CC61C11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1465E-5296-1ED2-5BD9-FFDDA6733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99222-63E4-BDE7-4C94-F2E81A47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07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3FD7-889D-EC30-6B60-9E5113E85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849FD-3F87-3CA0-4AAA-A0B057A46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C32BC-AA8D-5DC2-A141-0B738B258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4E7A0-F15A-62FC-2801-1A3733672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F6C03-B2EF-5AD0-EC00-A46BB0DAE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FBD8B-1A62-B652-1FBC-74D444ED4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5BE5A8-C9D7-FA8D-6B6E-1C2C7B251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6B0480-3DAF-6F47-998C-6EC50EEF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30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FE8E-0395-716D-92AB-BDA11DE94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72399A-0ABD-9359-A0D7-1E26B5B8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0EBE6-986F-DFFC-33BB-143FC36AB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5F2E8-2560-27A4-9D78-7524EE17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695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4F090E-C333-CE99-D1B2-5F95CA46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C399D-778D-5423-421B-97302200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5C3DA-8918-FBCD-0AA8-DCE238C2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87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41D8-B092-7956-48C2-B237D7C70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84A9B-3EFC-CCBC-0D23-3677EB1B9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ACEA7-DD6C-D624-DD98-0FCBC837A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5E45D-54DF-5FD2-9F8D-900D87758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10B0E-4C84-D177-382F-6E2904A6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58AC2-8528-5BF6-8A0F-1935676A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86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EBC4-7816-9911-370B-31E04B367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534DE-3D7F-8DBB-ADE6-A515AD2F9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00D5F-96A5-B559-9334-D033D2223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DC104-B719-1D5F-80D6-C69EDD2B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4E4B5-F848-2EA9-23E4-BEAB8CCF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229FD-E85E-5C8B-70B1-8126A3EC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19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9854-57F2-326B-0EF3-E22AA22B4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2B88F-4E28-C394-C13E-6BDA3BE6D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231B3-1F84-4D20-7774-CE96CED1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37927-ED4A-9F0E-3E2B-CCC42BE1B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E79A2-E6D2-DD23-B80F-F1F6B82B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2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AB495-0021-154A-B7AD-598E4F7EC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C936B-83A5-B88B-C47A-28DEFD827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DC070-EF19-7125-1460-40FFB832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A4539-382E-A60C-DB96-8EC6E23F0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E9F40-1E89-F44D-D222-F505B432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713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E0224F-E9AC-EA4C-3101-D5D1A4C28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0CF5E-DF06-DCEB-BF6A-D473D7878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B8B37-B59B-6B65-DC15-A5456994B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B58DE-E383-4C42-B72E-DC887D4EB1E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A1A8B-C663-4336-36F6-4686CE78B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99921-0B93-E0B6-F0BB-1523C4748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FA5E9-5723-42A2-877B-4E055C998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91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0D78CAC-7EA5-3839-7CE9-17D22BDD2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2273"/>
            <a:ext cx="12192000" cy="43855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78B022-F3EC-B026-752E-84835D5ADC45}"/>
              </a:ext>
            </a:extLst>
          </p:cNvPr>
          <p:cNvSpPr txBox="1"/>
          <p:nvPr/>
        </p:nvSpPr>
        <p:spPr>
          <a:xfrm>
            <a:off x="2921000" y="331800"/>
            <a:ext cx="635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Architecture of </a:t>
            </a:r>
            <a:r>
              <a:rPr lang="en-US" sz="2400" b="1" dirty="0" err="1"/>
              <a:t>SigLIP</a:t>
            </a:r>
            <a:r>
              <a:rPr lang="en-US" sz="2400" b="1" dirty="0"/>
              <a:t> + Phi-3.5</a:t>
            </a:r>
            <a:r>
              <a:rPr lang="en-US" sz="2400" dirty="0"/>
              <a:t> pipeline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036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01B8F-6567-6F78-EADA-26B9E5F5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05EDEC-B9DE-B184-2FF1-5A197B4FA22F}"/>
              </a:ext>
            </a:extLst>
          </p:cNvPr>
          <p:cNvGraphicFramePr>
            <a:graphicFrameLocks noGrp="1"/>
          </p:cNvGraphicFramePr>
          <p:nvPr/>
        </p:nvGraphicFramePr>
        <p:xfrm>
          <a:off x="1761067" y="1143001"/>
          <a:ext cx="7476068" cy="517313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69017">
                  <a:extLst>
                    <a:ext uri="{9D8B030D-6E8A-4147-A177-3AD203B41FA5}">
                      <a16:colId xmlns:a16="http://schemas.microsoft.com/office/drawing/2014/main" val="3241896916"/>
                    </a:ext>
                  </a:extLst>
                </a:gridCol>
                <a:gridCol w="1869017">
                  <a:extLst>
                    <a:ext uri="{9D8B030D-6E8A-4147-A177-3AD203B41FA5}">
                      <a16:colId xmlns:a16="http://schemas.microsoft.com/office/drawing/2014/main" val="902431745"/>
                    </a:ext>
                  </a:extLst>
                </a:gridCol>
                <a:gridCol w="1869017">
                  <a:extLst>
                    <a:ext uri="{9D8B030D-6E8A-4147-A177-3AD203B41FA5}">
                      <a16:colId xmlns:a16="http://schemas.microsoft.com/office/drawing/2014/main" val="569447668"/>
                    </a:ext>
                  </a:extLst>
                </a:gridCol>
                <a:gridCol w="1869017">
                  <a:extLst>
                    <a:ext uri="{9D8B030D-6E8A-4147-A177-3AD203B41FA5}">
                      <a16:colId xmlns:a16="http://schemas.microsoft.com/office/drawing/2014/main" val="3125562424"/>
                    </a:ext>
                  </a:extLst>
                </a:gridCol>
              </a:tblGrid>
              <a:tr h="2858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Component Type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Model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Key Advantage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Best Use Case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extLst>
                  <a:ext uri="{0D108BD9-81ED-4DB2-BD59-A6C34878D82A}">
                    <a16:rowId xmlns:a16="http://schemas.microsoft.com/office/drawing/2014/main" val="1258066925"/>
                  </a:ext>
                </a:extLst>
              </a:tr>
              <a:tr h="6823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Vision Encoder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DINOv2</a:t>
                      </a: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</a:rPr>
                        <a:t> (Meta)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Self-supervised learning; superior spatial, depth, and geometric awareness.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Captions requiring precise object positioning and sizing.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extLst>
                  <a:ext uri="{0D108BD9-81ED-4DB2-BD59-A6C34878D82A}">
                    <a16:rowId xmlns:a16="http://schemas.microsoft.com/office/drawing/2014/main" val="1261114910"/>
                  </a:ext>
                </a:extLst>
              </a:tr>
              <a:tr h="8806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Vision Encoder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SigLIP</a:t>
                      </a: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</a:rPr>
                        <a:t> (Google)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Uses Sigmoid loss for better efficiency and zero-shot performance than CLIP.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A high-performance, direct "drop-in" replacement for CLIP.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extLst>
                  <a:ext uri="{0D108BD9-81ED-4DB2-BD59-A6C34878D82A}">
                    <a16:rowId xmlns:a16="http://schemas.microsoft.com/office/drawing/2014/main" val="454056951"/>
                  </a:ext>
                </a:extLst>
              </a:tr>
              <a:tr h="8806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Vision Encoder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EVA-02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Masked image patch pre-training for deep texture and fine-detail understanding.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High-fidelity image analysis and detailed feature extraction.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extLst>
                  <a:ext uri="{0D108BD9-81ED-4DB2-BD59-A6C34878D82A}">
                    <a16:rowId xmlns:a16="http://schemas.microsoft.com/office/drawing/2014/main" val="2155485078"/>
                  </a:ext>
                </a:extLst>
              </a:tr>
              <a:tr h="8806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Text Decoder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 dirty="0">
                          <a:solidFill>
                            <a:srgbClr val="1F1F1F"/>
                          </a:solidFill>
                          <a:effectLst/>
                        </a:rPr>
                        <a:t>Phi-3.5 Mini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Trained on high-quality "textbook" data; exceptional logical reasoning.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Professional, factually accurate, and logical descriptions.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extLst>
                  <a:ext uri="{0D108BD9-81ED-4DB2-BD59-A6C34878D82A}">
                    <a16:rowId xmlns:a16="http://schemas.microsoft.com/office/drawing/2014/main" val="2275909955"/>
                  </a:ext>
                </a:extLst>
              </a:tr>
              <a:tr h="6823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Text Decoder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Llama 3.2</a:t>
                      </a: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</a:rPr>
                        <a:t> (1B/3B)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Modern "mobile-sized" SLM; vastly smarter than GPT-2 at similar sizes.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Natural, conversational, and storytelling-style captions.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extLst>
                  <a:ext uri="{0D108BD9-81ED-4DB2-BD59-A6C34878D82A}">
                    <a16:rowId xmlns:a16="http://schemas.microsoft.com/office/drawing/2014/main" val="1626055959"/>
                  </a:ext>
                </a:extLst>
              </a:tr>
              <a:tr h="8806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Text Decoder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Mistral-7B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Gold standard for efficiency; maintains coherence in long-form generation.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Long, detailed captions requiring high linguistic consistency.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549" marR="55549" marT="37033" marB="37033" anchor="ctr"/>
                </a:tc>
                <a:extLst>
                  <a:ext uri="{0D108BD9-81ED-4DB2-BD59-A6C34878D82A}">
                    <a16:rowId xmlns:a16="http://schemas.microsoft.com/office/drawing/2014/main" val="41088079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D8FF32-7E0A-F5D4-9A07-645E6C5D20FB}"/>
              </a:ext>
            </a:extLst>
          </p:cNvPr>
          <p:cNvSpPr txBox="1"/>
          <p:nvPr/>
        </p:nvSpPr>
        <p:spPr>
          <a:xfrm>
            <a:off x="2573868" y="28025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Alternatives for Multimodal Pipelines</a:t>
            </a:r>
          </a:p>
        </p:txBody>
      </p:sp>
    </p:spTree>
    <p:extLst>
      <p:ext uri="{BB962C8B-B14F-4D97-AF65-F5344CB8AC3E}">
        <p14:creationId xmlns:p14="http://schemas.microsoft.com/office/powerpoint/2010/main" val="3868271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174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Google Sans Text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Dhananjay Jagtap</dc:creator>
  <cp:lastModifiedBy>Dhananjay Jagtap</cp:lastModifiedBy>
  <cp:revision>3</cp:revision>
  <dcterms:created xsi:type="dcterms:W3CDTF">2026-02-15T17:06:19Z</dcterms:created>
  <dcterms:modified xsi:type="dcterms:W3CDTF">2026-02-23T01:14:57Z</dcterms:modified>
</cp:coreProperties>
</file>